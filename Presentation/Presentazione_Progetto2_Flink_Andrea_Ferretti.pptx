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5" r:id="rId12"/>
    <p:sldId id="272" r:id="rId13"/>
    <p:sldId id="269" r:id="rId14"/>
    <p:sldId id="266" r:id="rId15"/>
    <p:sldId id="267" r:id="rId16"/>
    <p:sldId id="268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6B24"/>
    <a:srgbClr val="8A0E3A"/>
    <a:srgbClr val="C51FAD"/>
    <a:srgbClr val="DD073A"/>
    <a:srgbClr val="43D5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898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6">
            <a:extLst>
              <a:ext uri="{FF2B5EF4-FFF2-40B4-BE49-F238E27FC236}">
                <a16:creationId xmlns:a16="http://schemas.microsoft.com/office/drawing/2014/main" id="{5C6C6D61-9187-0951-5268-BD8A178EE062}"/>
              </a:ext>
            </a:extLst>
          </p:cNvPr>
          <p:cNvSpPr/>
          <p:nvPr userDrawn="1"/>
        </p:nvSpPr>
        <p:spPr>
          <a:xfrm>
            <a:off x="0" y="6284094"/>
            <a:ext cx="12191695" cy="45720"/>
          </a:xfrm>
          <a:prstGeom prst="rect">
            <a:avLst/>
          </a:prstGeom>
          <a:solidFill>
            <a:srgbClr val="007C3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egnaposto numero diapositiva 10">
            <a:extLst>
              <a:ext uri="{FF2B5EF4-FFF2-40B4-BE49-F238E27FC236}">
                <a16:creationId xmlns:a16="http://schemas.microsoft.com/office/drawing/2014/main" id="{60C5569F-4FFC-8A5A-C551-FB8DE90629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C73B3B-4FDB-40BA-B028-EA46AA27FC3C}" type="slidenum">
              <a:rPr lang="it-IT" smtClean="0"/>
              <a:t>‹N›</a:t>
            </a:fld>
            <a:endParaRPr lang="it-IT" dirty="0"/>
          </a:p>
        </p:txBody>
      </p:sp>
      <p:sp>
        <p:nvSpPr>
          <p:cNvPr id="4" name="Segnaposto piè di pagina 11">
            <a:extLst>
              <a:ext uri="{FF2B5EF4-FFF2-40B4-BE49-F238E27FC236}">
                <a16:creationId xmlns:a16="http://schemas.microsoft.com/office/drawing/2014/main" id="{4E997337-F68D-5045-E1C0-CF0F275105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Andrea Ferretti</a:t>
            </a:r>
          </a:p>
        </p:txBody>
      </p:sp>
      <p:sp>
        <p:nvSpPr>
          <p:cNvPr id="5" name="Segnaposto data 12">
            <a:extLst>
              <a:ext uri="{FF2B5EF4-FFF2-40B4-BE49-F238E27FC236}">
                <a16:creationId xmlns:a16="http://schemas.microsoft.com/office/drawing/2014/main" id="{B60409B7-D250-985D-4B21-7E4A2DD7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Anno Accademico 2025/2026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1CD0934C-C5C1-6B79-0E3C-734E29BAA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439" y="813503"/>
            <a:ext cx="4389120" cy="95737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A974706-6D43-BF4E-6FEC-98614BC25DD7}"/>
              </a:ext>
            </a:extLst>
          </p:cNvPr>
          <p:cNvSpPr/>
          <p:nvPr/>
        </p:nvSpPr>
        <p:spPr>
          <a:xfrm>
            <a:off x="457351" y="1956335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kern="0" spc="100" dirty="0">
                <a:solidFill>
                  <a:srgbClr val="007C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UNIVERSITÀ DEGLI STUDI DI ROMA TOR VERGATA</a:t>
            </a:r>
            <a:endParaRPr lang="en-US" sz="1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9C2C5B6-4ED7-E1D5-49C9-FA4C561A0067}"/>
              </a:ext>
            </a:extLst>
          </p:cNvPr>
          <p:cNvSpPr/>
          <p:nvPr/>
        </p:nvSpPr>
        <p:spPr>
          <a:xfrm>
            <a:off x="457351" y="250755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err="1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Architetture per Big Data</a:t>
            </a:r>
            <a:endParaRPr lang="en-US" sz="1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A8E38F2-2510-EA67-8860-4D98B50318BB}"/>
              </a:ext>
            </a:extLst>
          </p:cNvPr>
          <p:cNvSpPr/>
          <p:nvPr/>
        </p:nvSpPr>
        <p:spPr>
          <a:xfrm>
            <a:off x="2194710" y="3080422"/>
            <a:ext cx="7802575" cy="45720"/>
          </a:xfrm>
          <a:prstGeom prst="rect">
            <a:avLst/>
          </a:prstGeom>
          <a:solidFill>
            <a:srgbClr val="007C3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23F6A79-5460-B317-8EAA-31EA4ADEA1E4}"/>
              </a:ext>
            </a:extLst>
          </p:cNvPr>
          <p:cNvSpPr/>
          <p:nvPr/>
        </p:nvSpPr>
        <p:spPr>
          <a:xfrm>
            <a:off x="682685" y="3333254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5000"/>
              </a:lnSpc>
              <a:buNone/>
            </a:pPr>
            <a:r>
              <a:rPr lang="it-IT" sz="3000" dirty="0"/>
              <a:t>Analisi in tempo reale di dati sui voli con Apache Flink</a:t>
            </a:r>
            <a:endParaRPr lang="en-US" sz="300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CE9DFCAB-0E29-EBEE-174D-128AC75109CF}"/>
              </a:ext>
            </a:extLst>
          </p:cNvPr>
          <p:cNvSpPr/>
          <p:nvPr/>
        </p:nvSpPr>
        <p:spPr>
          <a:xfrm>
            <a:off x="0" y="6284094"/>
            <a:ext cx="12191695" cy="45720"/>
          </a:xfrm>
          <a:prstGeom prst="rect">
            <a:avLst/>
          </a:prstGeom>
          <a:solidFill>
            <a:srgbClr val="007C3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9947D222-EC7C-4BFA-6C96-29EBA24E7090}"/>
              </a:ext>
            </a:extLst>
          </p:cNvPr>
          <p:cNvSpPr/>
          <p:nvPr/>
        </p:nvSpPr>
        <p:spPr>
          <a:xfrm>
            <a:off x="384048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 Accademico 2025/2026</a:t>
            </a:r>
            <a:endParaRPr lang="en-US" sz="95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81A29F45-30F8-B63B-C25E-9415139D34FE}"/>
              </a:ext>
            </a:extLst>
          </p:cNvPr>
          <p:cNvSpPr/>
          <p:nvPr/>
        </p:nvSpPr>
        <p:spPr>
          <a:xfrm>
            <a:off x="4498848" y="64739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Andrea Ferretti</a:t>
            </a:r>
            <a:endParaRPr lang="en-US" sz="95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58B0365F-BF51-E8BE-6E42-8EEA31A74AEB}"/>
              </a:ext>
            </a:extLst>
          </p:cNvPr>
          <p:cNvSpPr/>
          <p:nvPr/>
        </p:nvSpPr>
        <p:spPr>
          <a:xfrm>
            <a:off x="7690104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401133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84048"/>
            <a:ext cx="11420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Introduzione e obiettivi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4048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 Accademico 2025/2026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498848" y="64739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Andrea Ferretti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690104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4048" y="1143000"/>
            <a:ext cx="11420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L'analisi streaming dei voli aerei consente di identificare tempestivamente situazioni di congestione e misurare metriche critiche in tempo reale, a differenza dell'analisi batch che processa i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un secondo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momento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37376" y="1746504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Obiettivi del progetto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3776" y="4128452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Realizzare un'applicazione di stream processing con Apache Flink</a:t>
            </a:r>
            <a:endParaRPr lang="en-US" sz="13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Gestire event time, watermark e finestre temporali</a:t>
            </a:r>
            <a:endParaRPr lang="en-US" sz="13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Calcolare statistiche in tempo reale su due query distinte</a:t>
            </a:r>
            <a:endParaRPr lang="en-US" sz="13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Visualizzare i risultati su Grafana tramite InfluxDB</a:t>
            </a:r>
            <a:endParaRPr lang="en-US" sz="13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Analizzare le prestazioni al variare del parallelismo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" y="3712464"/>
            <a:ext cx="11201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Sfide principali</a:t>
            </a:r>
            <a:endParaRPr lang="en-US" sz="1150" dirty="0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1D603CCC-8144-6C17-B851-A268155F2458}"/>
              </a:ext>
            </a:extLst>
          </p:cNvPr>
          <p:cNvSpPr txBox="1"/>
          <p:nvPr/>
        </p:nvSpPr>
        <p:spPr>
          <a:xfrm>
            <a:off x="353683" y="1605703"/>
            <a:ext cx="37956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rgbClr val="007C34"/>
                </a:solidFill>
                <a:latin typeface="Georgia" pitchFamily="34" charset="0"/>
              </a:rPr>
              <a:t>Dataset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08375A15-8C57-026E-F1D5-5D41920270BB}"/>
              </a:ext>
            </a:extLst>
          </p:cNvPr>
          <p:cNvSpPr txBox="1"/>
          <p:nvPr/>
        </p:nvSpPr>
        <p:spPr>
          <a:xfrm>
            <a:off x="465824" y="2014624"/>
            <a:ext cx="10887976" cy="118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1400" dirty="0">
                <a:latin typeface="Georgia" panose="02040502050405020303" pitchFamily="18" charset="0"/>
              </a:rPr>
              <a:t>Voli di compagnie aeree statunitensi relativi al primo quadrimestre del 2025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1400" dirty="0">
                <a:latin typeface="Georgia" panose="02040502050405020303" pitchFamily="18" charset="0"/>
              </a:rPr>
              <a:t>Dati suddivisi su base mensile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1400" dirty="0">
                <a:latin typeface="Georgia" panose="02040502050405020303" pitchFamily="18" charset="0"/>
              </a:rPr>
              <a:t>Dataset in formato csv, compresso in formato tar.gz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1400" dirty="0">
                <a:latin typeface="Georgia" panose="02040502050405020303" pitchFamily="18" charset="0"/>
              </a:rPr>
              <a:t>Scaricabile accedendo all’URL http://www.ce.uniroma2.it/courses/sabd2526/project/project-1-data.tar.gz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2558300C-3507-5825-6B10-862B0EDE90D3}"/>
              </a:ext>
            </a:extLst>
          </p:cNvPr>
          <p:cNvSpPr txBox="1"/>
          <p:nvPr/>
        </p:nvSpPr>
        <p:spPr>
          <a:xfrm>
            <a:off x="353682" y="3699144"/>
            <a:ext cx="8256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rgbClr val="007C34"/>
                </a:solidFill>
                <a:latin typeface="Georgia" panose="02040502050405020303" pitchFamily="18" charset="0"/>
              </a:rPr>
              <a:t>Obiettivi del progetto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84048"/>
            <a:ext cx="11420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Architettura del sistema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4048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 Accademico 2025/2026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498848" y="64739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Andrea Ferretti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690104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4048" y="1143000"/>
            <a:ext cx="11420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pipeline è strutturata in tre macro-livelli interconnessi tramite Apache Kafka, orchestrati da Docker Compose in modalità standalone.</a:t>
            </a:r>
            <a:endParaRPr lang="en-US" sz="1400" dirty="0"/>
          </a:p>
        </p:txBody>
      </p:sp>
      <p:pic>
        <p:nvPicPr>
          <p:cNvPr id="38" name="Immagine 37">
            <a:extLst>
              <a:ext uri="{FF2B5EF4-FFF2-40B4-BE49-F238E27FC236}">
                <a16:creationId xmlns:a16="http://schemas.microsoft.com/office/drawing/2014/main" id="{FEFF2B6C-B32C-A0CE-FB57-227BCB242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104" y="1979129"/>
            <a:ext cx="6656743" cy="37358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84048"/>
            <a:ext cx="11420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Ingestion – Apache Kafka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4048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 Accademico 2025/2026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498848" y="64739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Andrea Ferretti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690104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4048" y="1143000"/>
            <a:ext cx="5367802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 Engine (Python/Pandas)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Caricamento e unificazione dei 4 file CSV in un unico DataFrame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Generazione dell'event time combinando anno, mese, giorno e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orario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partenza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schedulato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per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calcolare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lo Unix time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Ordinamento cronologico del dataset prima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dell'emission</a:t>
            </a:r>
            <a:endParaRPr lang="en-US" sz="1400" dirty="0">
              <a:solidFill>
                <a:srgbClr val="1A1A1A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1A1A1A"/>
                </a:solidFill>
                <a:latin typeface="Georgia" pitchFamily="34" charset="0"/>
              </a:rPr>
              <a:t>Messaggio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</a:rPr>
              <a:t> di end of stream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</a:rPr>
              <a:t>mandato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</a:rPr>
              <a:t> in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</a:rPr>
              <a:t>ciascuna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</a:rPr>
              <a:t>partizione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</a:rPr>
              <a:t> del topic Kafka</a:t>
            </a:r>
            <a:endParaRPr lang="en-US" sz="1400" dirty="0"/>
          </a:p>
          <a:p>
            <a:pPr>
              <a:spcAft>
                <a:spcPts val="300"/>
              </a:spcAft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Accelerazione Temporale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Fattore calcolato come rapporto tra estensione reale e durata target (3 min)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proporzionale tra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consecutive per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mantenere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 distanze relative tra eventi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Consente di processare ~2,2M record in un tempo sperimentalmente ragionevole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40152" y="1143000"/>
            <a:ext cx="5367802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Configurazione Apache Kafka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Modalità KRaft (no Zookeeper), 1 solo container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partizioni del topic in cui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salvati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eventi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Parallelizza la lettura,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avendo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un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partizioni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maggiore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uguale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parallelizzazione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source</a:t>
            </a:r>
            <a:endParaRPr lang="en-US" sz="1400" dirty="0"/>
          </a:p>
          <a:p>
            <a:pPr>
              <a:spcAft>
                <a:spcPts val="300"/>
              </a:spcAft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Time come Timestamp Kafka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Producer converte l'event time in millisecondi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imposta come timestamp nativo del messaggio Kafka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Flink legge il timestamp direttamente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metadati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84048"/>
            <a:ext cx="11420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 Processing – Apache Flink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4048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 Accademico 2025/2026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498848" y="64739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Andrea Ferretti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690104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4048" y="1143000"/>
            <a:ext cx="5367802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– Application Mode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istanziato in modalità standalone-job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Eseguito esclusivamente per l'applicazione corrente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Applicazione in Java, impacchettata come fat JAR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multi-stage con Maven in un'immagine Docker personalizzata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Infrastruttura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JobManager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un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TaskManager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TaskManager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 4 slot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37102" y="1143000"/>
            <a:ext cx="5367802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Interfaccia</a:t>
            </a:r>
            <a:r>
              <a:rPr lang="en-US" sz="14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 Kafka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Connettore nativo Flink–Kafka (sia sorgente che sink)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Timestamp letto dai metadati Kafka, non deserializzato dal payload</a:t>
            </a:r>
            <a:endParaRPr lang="en-US" sz="1400" dirty="0"/>
          </a:p>
          <a:p>
            <a:pPr>
              <a:spcAft>
                <a:spcPts val="300"/>
              </a:spcAft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Serializzazione/Deserializzazione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 custom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serializzate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deserializzate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libreria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Jackson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Formato JSON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Avro richiederebbe un Service Registry per gestire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schema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84048"/>
            <a:ext cx="11420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Gestione del Tempo e Watermarking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4048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 Accademico 2025/2026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498848" y="64739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Andrea Ferretti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690104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4048" y="1143000"/>
            <a:ext cx="11420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gestione degli eventi </a:t>
            </a:r>
            <a:r>
              <a:rPr lang="en-US" sz="140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fuori</a:t>
            </a:r>
            <a:r>
              <a:rPr lang="en-US" sz="130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ordine è cruciale nei sistemi distribuiti di stream processing.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029968"/>
            <a:ext cx="11420856" cy="811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watermark per ciascuna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partizione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è il timestamp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corrente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dell'evento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watermark globale del source Kafka è il minimo dei watermark generati dalle singole partizioni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Nessuna gestione di idleness necessaria: ogni partizione riceve il messaggio di end-of-stream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" y="3227832"/>
            <a:ext cx="11201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Motivazione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4048" y="2960696"/>
            <a:ext cx="11420856" cy="2593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Garanzie del sistema che rendono possibile questa scelta: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stream engine invia i dati a Kafka in ordine di event time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cluster è in modalità standalone: nessuna perdita di pacchetti tra i task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dati all'interno di ciascuna partizione sono già ordinati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È sufficiente gestire solo il riordinamento tra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partizioni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diverse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Riordinamento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partizioni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diverse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garantito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perchè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considerano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il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watermark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ricevuti</a:t>
            </a:r>
            <a:endParaRPr lang="en-US" sz="1400" dirty="0"/>
          </a:p>
          <a:p>
            <a:pPr>
              <a:spcAft>
                <a:spcPts val="300"/>
              </a:spcAft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Vantaggi rispetto a watermark con bounded-out-of-orderness: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Latenza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minore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perchè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non è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necessario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aggiungere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il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ritardo</a:t>
            </a:r>
            <a:endParaRPr lang="en-US" sz="1400" dirty="0">
              <a:solidFill>
                <a:srgbClr val="1A1A1A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306BE280-A8CC-41A1-B377-2AF742D463A1}"/>
              </a:ext>
            </a:extLst>
          </p:cNvPr>
          <p:cNvSpPr txBox="1"/>
          <p:nvPr/>
        </p:nvSpPr>
        <p:spPr>
          <a:xfrm>
            <a:off x="384048" y="1598637"/>
            <a:ext cx="811737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 err="1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Strategia</a:t>
            </a: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b="1" dirty="0" err="1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adottata</a:t>
            </a: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</a:t>
            </a:r>
            <a:r>
              <a:rPr lang="en-US" sz="1500" b="1" dirty="0" err="1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forMonotonousTimestamps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84048"/>
            <a:ext cx="11420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Pulizia e Pre-processamento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4048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 Accademico 2025/2026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498848" y="64739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Andrea Ferretti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690104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4048" y="1143000"/>
            <a:ext cx="5367802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Deserializzazione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POJO definito con i soli campi necessari per le due query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Popolato tramite Jackson ObjectMapper dal payload JSON,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scartando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non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specificati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nel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POJO</a:t>
            </a:r>
            <a:endParaRPr lang="en-US" sz="1400" dirty="0"/>
          </a:p>
          <a:p>
            <a:pPr>
              <a:spcAft>
                <a:spcPts val="400"/>
              </a:spcAft>
            </a:pPr>
            <a:endParaRPr lang="en-US" sz="1500" b="1" dirty="0">
              <a:solidFill>
                <a:srgbClr val="196B24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Campi del POJO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OP_UNIQUE_CARRIER: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codice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compagnia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aerea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ORIGIN_AIRPORT_ID: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aeroporto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partenza</a:t>
            </a:r>
            <a:endParaRPr lang="en-US" sz="1400" dirty="0">
              <a:solidFill>
                <a:srgbClr val="1A1A1A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</a:rPr>
              <a:t>DESTINATION_AIRPORT_ID: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</a:rPr>
              <a:t>aeroporto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</a:rPr>
              <a:t> di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</a:rPr>
              <a:t>destinazione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DEP_DELAY: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ritardo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partenza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minuti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CANCELLED, DIVERTED: flag di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del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volo</a:t>
            </a:r>
            <a:endParaRPr lang="en-US" sz="1400" dirty="0">
              <a:solidFill>
                <a:srgbClr val="1A1A1A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</a:rPr>
              <a:t>DEP_DELAY: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</a:rPr>
              <a:t>ritardo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</a:rPr>
              <a:t> in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</a:rPr>
              <a:t>partenza</a:t>
            </a:r>
            <a:endParaRPr lang="en-US" sz="1400" dirty="0"/>
          </a:p>
          <a:p>
            <a:pPr>
              <a:spcAft>
                <a:spcPts val="300"/>
              </a:spcAft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Gestione dei valori nulli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Valori nulli NON imputati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Rappresentano una percentuale molto piccola del dataset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Filtrati localmente dove necessario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Evita distorsioni statistiche da imputazioni non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rappresentative</a:t>
            </a:r>
            <a:endParaRPr lang="en-US" sz="1400" dirty="0">
              <a:solidFill>
                <a:srgbClr val="1A1A1A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A1A1A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>
              <a:spcAft>
                <a:spcPts val="300"/>
              </a:spcAft>
            </a:pPr>
            <a:endParaRPr lang="en-US" sz="1400" dirty="0">
              <a:solidFill>
                <a:srgbClr val="1A1A1A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84048"/>
            <a:ext cx="11420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1 – Monitoraggio Compagnie Aeree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4048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 Accademico 2025/2026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498848" y="64739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Andrea Ferretti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690104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4048" y="1143000"/>
            <a:ext cx="11420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Monitora in tempo reale lo stato operativo di 4 vettori statunitensi: American Airlines (AA), Delta (DL), United (UA) e Southwest (WN).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" y="1874522"/>
            <a:ext cx="2103120" cy="777240"/>
          </a:xfrm>
          <a:prstGeom prst="rect">
            <a:avLst/>
          </a:prstGeom>
          <a:solidFill>
            <a:srgbClr val="0F9ED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29768" y="192024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(AA, DL, UA, WN)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96312" y="213055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2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88336" y="1874522"/>
            <a:ext cx="2103120" cy="77724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2734056" y="192024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keyBy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(compagnia aerea)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213055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2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92624" y="1874522"/>
            <a:ext cx="2103120" cy="777240"/>
          </a:xfrm>
          <a:prstGeom prst="rect">
            <a:avLst/>
          </a:prstGeom>
          <a:solidFill>
            <a:srgbClr val="196B2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038344" y="192024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Tumbling Window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(1 ora · event-time)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04888" y="213055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2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96912" y="1874522"/>
            <a:ext cx="2103120" cy="777240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342632" y="192024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AggregateFunction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ProcessWindowFunction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409176" y="213055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2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601200" y="1874522"/>
            <a:ext cx="2103120" cy="777240"/>
          </a:xfrm>
          <a:prstGeom prst="rect">
            <a:avLst/>
          </a:prstGeom>
          <a:solidFill>
            <a:srgbClr val="0E284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9646920" y="192024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Sink Kafka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4048" y="3154680"/>
            <a:ext cx="5367802" cy="292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Stato dell'AggregateFunction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Contatore voli totali nella finestra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Contatori voli completati, cancellati e deviati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 ritardi in partenza (voli non cancellati con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ritardo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non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nullo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Contatore voli non cancellati con ritardo in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partenza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non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nullo</a:t>
            </a:r>
            <a:endParaRPr lang="en-US" sz="1400" dirty="0">
              <a:solidFill>
                <a:srgbClr val="1A1A1A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Contatore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non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cancellati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ritardo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partenza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maggiore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 15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minuti</a:t>
            </a:r>
            <a:endParaRPr lang="en-US" sz="1400" dirty="0">
              <a:solidFill>
                <a:srgbClr val="1A1A1A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>
              <a:spcAft>
                <a:spcPts val="300"/>
              </a:spcAft>
            </a:pPr>
            <a:endParaRPr lang="en-US" sz="1400" dirty="0">
              <a:solidFill>
                <a:srgbClr val="1A1A1A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>
              <a:spcAft>
                <a:spcPts val="300"/>
              </a:spcAft>
            </a:pPr>
            <a:endParaRPr lang="en-US" sz="1400" dirty="0"/>
          </a:p>
          <a:p>
            <a:pPr>
              <a:spcAft>
                <a:spcPts val="300"/>
              </a:spcAft>
            </a:pPr>
            <a:endParaRPr lang="en-US" sz="1400" dirty="0">
              <a:solidFill>
                <a:srgbClr val="1A1A1A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37102" y="3154680"/>
            <a:ext cx="536780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Metriche calcolate alla chiusura della </a:t>
            </a:r>
            <a:r>
              <a:rPr lang="en-US" sz="1500" b="1" dirty="0" err="1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finestra</a:t>
            </a:r>
            <a:endParaRPr lang="en-US" sz="1500" b="1" dirty="0">
              <a:solidFill>
                <a:srgbClr val="196B24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Numero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totale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voli</a:t>
            </a:r>
            <a:endParaRPr lang="en-US" sz="1400" dirty="0"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Numero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voli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completati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cancellati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e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deviati</a:t>
            </a:r>
            <a:endParaRPr lang="en-US" sz="1400" dirty="0"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Ritardo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medio in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partenza</a:t>
            </a:r>
            <a:endParaRPr lang="en-US" sz="1400" dirty="0"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Tasso di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cancellazione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dei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voli</a:t>
            </a:r>
            <a:endParaRPr lang="en-US" sz="1400" dirty="0"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Tasso di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voli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con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ritardo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in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partenza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maggiore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di 15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minuti</a:t>
            </a:r>
            <a:endParaRPr lang="en-US" sz="1400" dirty="0"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endParaRPr lang="en-US" sz="1500" b="1" dirty="0">
              <a:solidFill>
                <a:srgbClr val="196B24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>
              <a:spcAft>
                <a:spcPts val="300"/>
              </a:spcAft>
            </a:pPr>
            <a:r>
              <a:rPr lang="en-US" sz="1500" b="1" dirty="0" err="1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ProcessWindowFunction</a:t>
            </a:r>
            <a:endParaRPr lang="en-US" sz="1500" b="1" dirty="0">
              <a:solidFill>
                <a:srgbClr val="196B24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Utilizzata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per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ottenere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timestamp di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inizio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e di fine della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finestra</a:t>
            </a:r>
            <a:endParaRPr lang="en-US" sz="1400" dirty="0"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endParaRPr lang="en-US" sz="1500" b="1" dirty="0">
              <a:solidFill>
                <a:srgbClr val="196B24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84048"/>
            <a:ext cx="11420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2 – Classifica Aeroporti per Ritardi Significativi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4048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 Accademico 2025/2026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498848" y="64739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Andrea Ferretti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690104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4048" y="1143000"/>
            <a:ext cx="11420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Identifica in tempo reale gli aeroporti di partenza con il maggior numero di ritardi significativi (ritardo in partenza &gt; 30 min per voli non cancellati né deviati).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2837282"/>
            <a:ext cx="1651376" cy="634788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06906" y="2851060"/>
            <a:ext cx="1611541" cy="600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  </a:t>
            </a:r>
            <a:r>
              <a:rPr lang="en-US" sz="9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eventi</a:t>
            </a: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completati</a:t>
            </a:r>
            <a:endParaRPr lang="en-US" sz="900" b="1" dirty="0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keyBy</a:t>
            </a: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aeroporto</a:t>
            </a: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partenza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23096" y="1998150"/>
            <a:ext cx="1998609" cy="379827"/>
          </a:xfrm>
          <a:prstGeom prst="rect">
            <a:avLst/>
          </a:prstGeom>
          <a:solidFill>
            <a:srgbClr val="0F9ED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568816" y="2034046"/>
            <a:ext cx="19430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Tumbling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ora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23096" y="2970694"/>
            <a:ext cx="1982928" cy="379827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2568816" y="3006590"/>
            <a:ext cx="1927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Tumbling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ore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23096" y="3928262"/>
            <a:ext cx="1967682" cy="375064"/>
          </a:xfrm>
          <a:prstGeom prst="rect">
            <a:avLst/>
          </a:prstGeom>
          <a:solidFill>
            <a:srgbClr val="0E284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2568816" y="3947952"/>
            <a:ext cx="1913024" cy="325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Globale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(4 mesi + trigger)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51058" y="4854811"/>
            <a:ext cx="5588564" cy="1276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Finestra Globale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Modellata come window di 4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mesi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 custom: attivato da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 end of stream con event time 1/06/2025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Inviati dallo stream engine su ogni partizione al termine del dataset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096000" y="4879307"/>
            <a:ext cx="6096000" cy="125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Nota implementativa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tre rami usano le stesse concatenazioni di operatori → codice riutilizzabile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Ciascun ramo scrive su un topic Kafka separato per facilitare la lettura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windowAll aggrega la classifica globale su tutti gli aeroporti (min 30 voli)</a:t>
            </a:r>
            <a:endParaRPr lang="en-US" sz="1400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8A28B3A3-160B-490C-5523-5FA7D490E672}"/>
              </a:ext>
            </a:extLst>
          </p:cNvPr>
          <p:cNvSpPr/>
          <p:nvPr/>
        </p:nvSpPr>
        <p:spPr>
          <a:xfrm rot="18929554">
            <a:off x="1829775" y="2487655"/>
            <a:ext cx="861312" cy="305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2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86669EAE-9E3D-0E28-4F87-8518041AEEF5}"/>
              </a:ext>
            </a:extLst>
          </p:cNvPr>
          <p:cNvSpPr/>
          <p:nvPr/>
        </p:nvSpPr>
        <p:spPr>
          <a:xfrm>
            <a:off x="2195868" y="3071854"/>
            <a:ext cx="175277" cy="214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2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47B84D56-0CFB-5940-3EF6-BFC225AEA42A}"/>
              </a:ext>
            </a:extLst>
          </p:cNvPr>
          <p:cNvSpPr/>
          <p:nvPr/>
        </p:nvSpPr>
        <p:spPr>
          <a:xfrm rot="2787609">
            <a:off x="2201400" y="3541556"/>
            <a:ext cx="168483" cy="2230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2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DF7C90C1-5A05-5C7D-760F-666F4F1A551C}"/>
              </a:ext>
            </a:extLst>
          </p:cNvPr>
          <p:cNvSpPr/>
          <p:nvPr/>
        </p:nvSpPr>
        <p:spPr>
          <a:xfrm>
            <a:off x="4964294" y="1850986"/>
            <a:ext cx="1958400" cy="694800"/>
          </a:xfrm>
          <a:prstGeom prst="rect">
            <a:avLst/>
          </a:prstGeom>
          <a:solidFill>
            <a:srgbClr val="0F9ED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C968C1B1-F690-D730-C367-B325AC56E454}"/>
              </a:ext>
            </a:extLst>
          </p:cNvPr>
          <p:cNvSpPr/>
          <p:nvPr/>
        </p:nvSpPr>
        <p:spPr>
          <a:xfrm>
            <a:off x="5026341" y="1886882"/>
            <a:ext cx="1801357" cy="632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 </a:t>
            </a:r>
            <a:r>
              <a:rPr lang="en-US" sz="105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aeroporti</a:t>
            </a: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 </a:t>
            </a:r>
            <a:r>
              <a:rPr lang="en-US" sz="105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voli</a:t>
            </a: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completati</a:t>
            </a: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maggiore</a:t>
            </a: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 </a:t>
            </a:r>
            <a:r>
              <a:rPr lang="en-US" sz="105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uguale</a:t>
            </a: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30</a:t>
            </a:r>
            <a:endParaRPr lang="en-US" sz="1050" dirty="0"/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AFCB1CE1-8A5A-7324-666A-F03DF2B3B42A}"/>
              </a:ext>
            </a:extLst>
          </p:cNvPr>
          <p:cNvSpPr/>
          <p:nvPr/>
        </p:nvSpPr>
        <p:spPr>
          <a:xfrm>
            <a:off x="5010013" y="2902559"/>
            <a:ext cx="1958400" cy="6948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1477C663-C04E-EC8C-4DDA-2C9E1461864C}"/>
              </a:ext>
            </a:extLst>
          </p:cNvPr>
          <p:cNvSpPr/>
          <p:nvPr/>
        </p:nvSpPr>
        <p:spPr>
          <a:xfrm>
            <a:off x="5055733" y="2938454"/>
            <a:ext cx="1866962" cy="642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 </a:t>
            </a:r>
            <a:r>
              <a:rPr lang="en-US" sz="105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aeroporti</a:t>
            </a: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 </a:t>
            </a:r>
            <a:r>
              <a:rPr lang="en-US" sz="105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voli</a:t>
            </a: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completati</a:t>
            </a: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maggiore</a:t>
            </a: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 </a:t>
            </a:r>
            <a:r>
              <a:rPr lang="en-US" sz="105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uguale</a:t>
            </a: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30</a:t>
            </a:r>
            <a:endParaRPr lang="en-US" sz="1050" dirty="0"/>
          </a:p>
        </p:txBody>
      </p:sp>
      <p:sp>
        <p:nvSpPr>
          <p:cNvPr id="50" name="Shape 22">
            <a:extLst>
              <a:ext uri="{FF2B5EF4-FFF2-40B4-BE49-F238E27FC236}">
                <a16:creationId xmlns:a16="http://schemas.microsoft.com/office/drawing/2014/main" id="{D4B6FD87-74F2-43D0-CA97-5D4BAF776985}"/>
              </a:ext>
            </a:extLst>
          </p:cNvPr>
          <p:cNvSpPr/>
          <p:nvPr/>
        </p:nvSpPr>
        <p:spPr>
          <a:xfrm>
            <a:off x="5010013" y="3851962"/>
            <a:ext cx="1958400" cy="694800"/>
          </a:xfrm>
          <a:prstGeom prst="rect">
            <a:avLst/>
          </a:prstGeom>
          <a:solidFill>
            <a:srgbClr val="0E284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CF94D270-C4E6-16D1-118A-E4CD6D27F1CA}"/>
              </a:ext>
            </a:extLst>
          </p:cNvPr>
          <p:cNvSpPr/>
          <p:nvPr/>
        </p:nvSpPr>
        <p:spPr>
          <a:xfrm>
            <a:off x="5055733" y="3887883"/>
            <a:ext cx="1912680" cy="632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 </a:t>
            </a:r>
            <a:r>
              <a:rPr lang="en-US" sz="105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aeroporti</a:t>
            </a: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 </a:t>
            </a:r>
            <a:r>
              <a:rPr lang="en-US" sz="105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voli</a:t>
            </a: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completati</a:t>
            </a: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05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maggiore</a:t>
            </a: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 </a:t>
            </a:r>
            <a:r>
              <a:rPr lang="en-US" sz="105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uguale</a:t>
            </a: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30</a:t>
            </a:r>
            <a:endParaRPr lang="en-US" sz="1050" dirty="0"/>
          </a:p>
        </p:txBody>
      </p:sp>
      <p:sp>
        <p:nvSpPr>
          <p:cNvPr id="54" name="Shape 10">
            <a:extLst>
              <a:ext uri="{FF2B5EF4-FFF2-40B4-BE49-F238E27FC236}">
                <a16:creationId xmlns:a16="http://schemas.microsoft.com/office/drawing/2014/main" id="{11448385-0B79-D5AB-9D9C-4BC69BF359E8}"/>
              </a:ext>
            </a:extLst>
          </p:cNvPr>
          <p:cNvSpPr/>
          <p:nvPr/>
        </p:nvSpPr>
        <p:spPr>
          <a:xfrm>
            <a:off x="7405189" y="1859151"/>
            <a:ext cx="1956933" cy="694069"/>
          </a:xfrm>
          <a:prstGeom prst="rect">
            <a:avLst/>
          </a:prstGeom>
          <a:solidFill>
            <a:srgbClr val="0F9ED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6" name="Text 11">
            <a:extLst>
              <a:ext uri="{FF2B5EF4-FFF2-40B4-BE49-F238E27FC236}">
                <a16:creationId xmlns:a16="http://schemas.microsoft.com/office/drawing/2014/main" id="{8B5F59E6-6BB7-AF81-097A-C3B5B30EB178}"/>
              </a:ext>
            </a:extLst>
          </p:cNvPr>
          <p:cNvSpPr/>
          <p:nvPr/>
        </p:nvSpPr>
        <p:spPr>
          <a:xfrm>
            <a:off x="7426417" y="1895047"/>
            <a:ext cx="1910375" cy="655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windowAll</a:t>
            </a:r>
            <a:endParaRPr lang="en-US" sz="1050" b="1" dirty="0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Tumbling</a:t>
            </a:r>
            <a:r>
              <a:rPr lang="en-US" sz="1050" dirty="0"/>
              <a:t> </a:t>
            </a: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ora</a:t>
            </a:r>
            <a:endParaRPr lang="en-US" sz="1050" dirty="0"/>
          </a:p>
        </p:txBody>
      </p:sp>
      <p:sp>
        <p:nvSpPr>
          <p:cNvPr id="58" name="Shape 16">
            <a:extLst>
              <a:ext uri="{FF2B5EF4-FFF2-40B4-BE49-F238E27FC236}">
                <a16:creationId xmlns:a16="http://schemas.microsoft.com/office/drawing/2014/main" id="{5BC26B0A-E1CA-5165-D77D-99374B448FB4}"/>
              </a:ext>
            </a:extLst>
          </p:cNvPr>
          <p:cNvSpPr/>
          <p:nvPr/>
        </p:nvSpPr>
        <p:spPr>
          <a:xfrm>
            <a:off x="7405190" y="2894332"/>
            <a:ext cx="1958400" cy="6948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0" name="Text 17">
            <a:extLst>
              <a:ext uri="{FF2B5EF4-FFF2-40B4-BE49-F238E27FC236}">
                <a16:creationId xmlns:a16="http://schemas.microsoft.com/office/drawing/2014/main" id="{B125084F-E2D7-3767-68AE-7744A2D1CDBD}"/>
              </a:ext>
            </a:extLst>
          </p:cNvPr>
          <p:cNvSpPr/>
          <p:nvPr/>
        </p:nvSpPr>
        <p:spPr>
          <a:xfrm>
            <a:off x="7426416" y="2881243"/>
            <a:ext cx="1958400" cy="69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windowAll</a:t>
            </a:r>
            <a:endParaRPr lang="en-US" sz="1050" b="1" dirty="0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Tumbling 6 ore</a:t>
            </a:r>
            <a:endParaRPr lang="en-US" sz="1050" dirty="0"/>
          </a:p>
        </p:txBody>
      </p:sp>
      <p:sp>
        <p:nvSpPr>
          <p:cNvPr id="62" name="Shape 22">
            <a:extLst>
              <a:ext uri="{FF2B5EF4-FFF2-40B4-BE49-F238E27FC236}">
                <a16:creationId xmlns:a16="http://schemas.microsoft.com/office/drawing/2014/main" id="{67222F65-AAE8-AD18-09A0-424B903629D0}"/>
              </a:ext>
            </a:extLst>
          </p:cNvPr>
          <p:cNvSpPr/>
          <p:nvPr/>
        </p:nvSpPr>
        <p:spPr>
          <a:xfrm>
            <a:off x="7405188" y="3831363"/>
            <a:ext cx="1958400" cy="694800"/>
          </a:xfrm>
          <a:prstGeom prst="rect">
            <a:avLst/>
          </a:prstGeom>
          <a:solidFill>
            <a:srgbClr val="0E284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4" name="Text 23">
            <a:extLst>
              <a:ext uri="{FF2B5EF4-FFF2-40B4-BE49-F238E27FC236}">
                <a16:creationId xmlns:a16="http://schemas.microsoft.com/office/drawing/2014/main" id="{DB9DD363-3398-4F6B-A9A2-0A419DDE4F3D}"/>
              </a:ext>
            </a:extLst>
          </p:cNvPr>
          <p:cNvSpPr/>
          <p:nvPr/>
        </p:nvSpPr>
        <p:spPr>
          <a:xfrm>
            <a:off x="7426416" y="3859217"/>
            <a:ext cx="1950582" cy="593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windowAll</a:t>
            </a:r>
            <a:endParaRPr lang="en-US" sz="1050" b="1" dirty="0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Globale</a:t>
            </a: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 mesi + trigger)</a:t>
            </a:r>
            <a:endParaRPr lang="en-US" sz="1050" dirty="0"/>
          </a:p>
        </p:txBody>
      </p:sp>
      <p:sp>
        <p:nvSpPr>
          <p:cNvPr id="66" name="Text 10">
            <a:extLst>
              <a:ext uri="{FF2B5EF4-FFF2-40B4-BE49-F238E27FC236}">
                <a16:creationId xmlns:a16="http://schemas.microsoft.com/office/drawing/2014/main" id="{127DED26-7F06-7A25-055D-43163876F021}"/>
              </a:ext>
            </a:extLst>
          </p:cNvPr>
          <p:cNvSpPr/>
          <p:nvPr/>
        </p:nvSpPr>
        <p:spPr>
          <a:xfrm>
            <a:off x="4622437" y="2077753"/>
            <a:ext cx="175277" cy="214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2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68" name="Text 10">
            <a:extLst>
              <a:ext uri="{FF2B5EF4-FFF2-40B4-BE49-F238E27FC236}">
                <a16:creationId xmlns:a16="http://schemas.microsoft.com/office/drawing/2014/main" id="{D37016C2-D0C4-F60C-1156-898131878409}"/>
              </a:ext>
            </a:extLst>
          </p:cNvPr>
          <p:cNvSpPr/>
          <p:nvPr/>
        </p:nvSpPr>
        <p:spPr>
          <a:xfrm>
            <a:off x="4622437" y="3044141"/>
            <a:ext cx="175277" cy="214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2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70" name="Text 10">
            <a:extLst>
              <a:ext uri="{FF2B5EF4-FFF2-40B4-BE49-F238E27FC236}">
                <a16:creationId xmlns:a16="http://schemas.microsoft.com/office/drawing/2014/main" id="{CB8E1A74-F53A-163B-A898-103B20C62B6B}"/>
              </a:ext>
            </a:extLst>
          </p:cNvPr>
          <p:cNvSpPr/>
          <p:nvPr/>
        </p:nvSpPr>
        <p:spPr>
          <a:xfrm>
            <a:off x="4622437" y="4009888"/>
            <a:ext cx="175277" cy="214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2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72" name="Text 10">
            <a:extLst>
              <a:ext uri="{FF2B5EF4-FFF2-40B4-BE49-F238E27FC236}">
                <a16:creationId xmlns:a16="http://schemas.microsoft.com/office/drawing/2014/main" id="{35CED4FE-CED8-B667-235E-CE58D7D28388}"/>
              </a:ext>
            </a:extLst>
          </p:cNvPr>
          <p:cNvSpPr/>
          <p:nvPr/>
        </p:nvSpPr>
        <p:spPr>
          <a:xfrm>
            <a:off x="7081370" y="2116578"/>
            <a:ext cx="175277" cy="214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2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74" name="Text 10">
            <a:extLst>
              <a:ext uri="{FF2B5EF4-FFF2-40B4-BE49-F238E27FC236}">
                <a16:creationId xmlns:a16="http://schemas.microsoft.com/office/drawing/2014/main" id="{2C65E60E-886A-639C-6F5B-E1402F1C6DA4}"/>
              </a:ext>
            </a:extLst>
          </p:cNvPr>
          <p:cNvSpPr/>
          <p:nvPr/>
        </p:nvSpPr>
        <p:spPr>
          <a:xfrm>
            <a:off x="7081370" y="3148278"/>
            <a:ext cx="175277" cy="214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2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76" name="Text 10">
            <a:extLst>
              <a:ext uri="{FF2B5EF4-FFF2-40B4-BE49-F238E27FC236}">
                <a16:creationId xmlns:a16="http://schemas.microsoft.com/office/drawing/2014/main" id="{949515DA-5FA9-AA9B-58CD-D2BBF84554B3}"/>
              </a:ext>
            </a:extLst>
          </p:cNvPr>
          <p:cNvSpPr/>
          <p:nvPr/>
        </p:nvSpPr>
        <p:spPr>
          <a:xfrm>
            <a:off x="7081370" y="4097697"/>
            <a:ext cx="175277" cy="214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2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78" name="Shape 10">
            <a:extLst>
              <a:ext uri="{FF2B5EF4-FFF2-40B4-BE49-F238E27FC236}">
                <a16:creationId xmlns:a16="http://schemas.microsoft.com/office/drawing/2014/main" id="{C12E7E0B-7EE2-65B4-F05A-D5D6368EA338}"/>
              </a:ext>
            </a:extLst>
          </p:cNvPr>
          <p:cNvSpPr/>
          <p:nvPr/>
        </p:nvSpPr>
        <p:spPr>
          <a:xfrm>
            <a:off x="9849311" y="1842723"/>
            <a:ext cx="1958400" cy="694800"/>
          </a:xfrm>
          <a:prstGeom prst="rect">
            <a:avLst/>
          </a:prstGeom>
          <a:solidFill>
            <a:srgbClr val="0F9ED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0" name="Text 11">
            <a:extLst>
              <a:ext uri="{FF2B5EF4-FFF2-40B4-BE49-F238E27FC236}">
                <a16:creationId xmlns:a16="http://schemas.microsoft.com/office/drawing/2014/main" id="{D0B95A6A-6CB4-9106-344D-C6DAAE39D862}"/>
              </a:ext>
            </a:extLst>
          </p:cNvPr>
          <p:cNvSpPr/>
          <p:nvPr/>
        </p:nvSpPr>
        <p:spPr>
          <a:xfrm>
            <a:off x="9846045" y="1848068"/>
            <a:ext cx="1958400" cy="69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Sink Kafka</a:t>
            </a:r>
            <a:endParaRPr lang="en-US" sz="1050" dirty="0"/>
          </a:p>
        </p:txBody>
      </p:sp>
      <p:sp>
        <p:nvSpPr>
          <p:cNvPr id="82" name="Shape 16">
            <a:extLst>
              <a:ext uri="{FF2B5EF4-FFF2-40B4-BE49-F238E27FC236}">
                <a16:creationId xmlns:a16="http://schemas.microsoft.com/office/drawing/2014/main" id="{83DE84A6-15D3-F9E6-4C88-DF7B9F9A5D74}"/>
              </a:ext>
            </a:extLst>
          </p:cNvPr>
          <p:cNvSpPr/>
          <p:nvPr/>
        </p:nvSpPr>
        <p:spPr>
          <a:xfrm>
            <a:off x="9849310" y="2888743"/>
            <a:ext cx="1958400" cy="69480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4" name="Text 17">
            <a:extLst>
              <a:ext uri="{FF2B5EF4-FFF2-40B4-BE49-F238E27FC236}">
                <a16:creationId xmlns:a16="http://schemas.microsoft.com/office/drawing/2014/main" id="{3574455E-5DE7-77EA-729D-7119294B5FB5}"/>
              </a:ext>
            </a:extLst>
          </p:cNvPr>
          <p:cNvSpPr/>
          <p:nvPr/>
        </p:nvSpPr>
        <p:spPr>
          <a:xfrm>
            <a:off x="9846045" y="2894085"/>
            <a:ext cx="1958400" cy="69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Sink Kafka</a:t>
            </a:r>
            <a:endParaRPr lang="en-US" sz="1050" dirty="0"/>
          </a:p>
        </p:txBody>
      </p:sp>
      <p:sp>
        <p:nvSpPr>
          <p:cNvPr id="86" name="Shape 22">
            <a:extLst>
              <a:ext uri="{FF2B5EF4-FFF2-40B4-BE49-F238E27FC236}">
                <a16:creationId xmlns:a16="http://schemas.microsoft.com/office/drawing/2014/main" id="{D84A8658-F8E2-1F68-D80A-11C755744689}"/>
              </a:ext>
            </a:extLst>
          </p:cNvPr>
          <p:cNvSpPr/>
          <p:nvPr/>
        </p:nvSpPr>
        <p:spPr>
          <a:xfrm>
            <a:off x="9849310" y="3824322"/>
            <a:ext cx="1958400" cy="694800"/>
          </a:xfrm>
          <a:prstGeom prst="rect">
            <a:avLst/>
          </a:prstGeom>
          <a:solidFill>
            <a:srgbClr val="0E284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8" name="Text 23">
            <a:extLst>
              <a:ext uri="{FF2B5EF4-FFF2-40B4-BE49-F238E27FC236}">
                <a16:creationId xmlns:a16="http://schemas.microsoft.com/office/drawing/2014/main" id="{AEBBDC6D-6D37-0E12-D4FA-B28F5EE8BE14}"/>
              </a:ext>
            </a:extLst>
          </p:cNvPr>
          <p:cNvSpPr/>
          <p:nvPr/>
        </p:nvSpPr>
        <p:spPr>
          <a:xfrm>
            <a:off x="9854210" y="3821291"/>
            <a:ext cx="1958400" cy="69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Sink Kafka</a:t>
            </a:r>
            <a:endParaRPr lang="en-US" sz="1050" dirty="0"/>
          </a:p>
        </p:txBody>
      </p:sp>
      <p:sp>
        <p:nvSpPr>
          <p:cNvPr id="90" name="Text 10">
            <a:extLst>
              <a:ext uri="{FF2B5EF4-FFF2-40B4-BE49-F238E27FC236}">
                <a16:creationId xmlns:a16="http://schemas.microsoft.com/office/drawing/2014/main" id="{20907AD1-7AD7-DCF4-A03B-C20D127B11D7}"/>
              </a:ext>
            </a:extLst>
          </p:cNvPr>
          <p:cNvSpPr/>
          <p:nvPr/>
        </p:nvSpPr>
        <p:spPr>
          <a:xfrm>
            <a:off x="9503780" y="2085917"/>
            <a:ext cx="175277" cy="214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2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92" name="Text 10">
            <a:extLst>
              <a:ext uri="{FF2B5EF4-FFF2-40B4-BE49-F238E27FC236}">
                <a16:creationId xmlns:a16="http://schemas.microsoft.com/office/drawing/2014/main" id="{A9851366-48BE-2921-073A-333A925F8526}"/>
              </a:ext>
            </a:extLst>
          </p:cNvPr>
          <p:cNvSpPr/>
          <p:nvPr/>
        </p:nvSpPr>
        <p:spPr>
          <a:xfrm>
            <a:off x="9503780" y="3117617"/>
            <a:ext cx="175277" cy="214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2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  <p:sp>
        <p:nvSpPr>
          <p:cNvPr id="94" name="Text 10">
            <a:extLst>
              <a:ext uri="{FF2B5EF4-FFF2-40B4-BE49-F238E27FC236}">
                <a16:creationId xmlns:a16="http://schemas.microsoft.com/office/drawing/2014/main" id="{3F92C6BD-7352-E358-C519-45B69B42E74F}"/>
              </a:ext>
            </a:extLst>
          </p:cNvPr>
          <p:cNvSpPr/>
          <p:nvPr/>
        </p:nvSpPr>
        <p:spPr>
          <a:xfrm>
            <a:off x="9503780" y="4067036"/>
            <a:ext cx="175277" cy="214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2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465693"/>
            <a:ext cx="11420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2 – </a:t>
            </a:r>
            <a:r>
              <a:rPr lang="en-US" sz="2400" b="1" dirty="0" err="1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Implementazione</a:t>
            </a:r>
            <a:r>
              <a:rPr lang="en-US" sz="24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keyed-window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4048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 Accademico 2025/2026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498848" y="64739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Andrea Ferretti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690104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4047" y="1224644"/>
            <a:ext cx="9764159" cy="5404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Stato </a:t>
            </a:r>
            <a:r>
              <a:rPr lang="en-US" sz="1500" b="1" dirty="0" err="1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dell'AggregateFunction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Numero voli non cancellati e non deviati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Numero voli con ritardo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significativo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 cumulativa ritardi e contatore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non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cancellati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né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deviati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ritardo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partenza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non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nullo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Valore massimo del ritardo in partenza osservato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Top-20 voli con ritardo significativo (PriorityQueue)</a:t>
            </a:r>
            <a:endParaRPr lang="en-US" sz="1400" dirty="0"/>
          </a:p>
          <a:p>
            <a:pPr>
              <a:spcAft>
                <a:spcPts val="300"/>
              </a:spcAft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PriorityQueue – Min-Heap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Chiave di ordinamento: ritardo in partenza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Accesso al minimo: O(1).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Inserimento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O(log n)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Coda piena: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leggo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il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Lo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elimino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riordino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la coda se il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minore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del nuovo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evento</a:t>
            </a:r>
            <a:endParaRPr lang="en-US" sz="1400" dirty="0">
              <a:solidFill>
                <a:srgbClr val="1A1A1A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A1A1A"/>
              </a:solidFill>
              <a:latin typeface="Georgia" pitchFamily="34" charset="0"/>
            </a:endParaRPr>
          </a:p>
          <a:p>
            <a:pPr>
              <a:spcAft>
                <a:spcPts val="300"/>
              </a:spcAft>
            </a:pPr>
            <a:r>
              <a:rPr lang="en-US" sz="1500" b="1" dirty="0" err="1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Metriche</a:t>
            </a: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b="1" dirty="0" err="1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calcolate</a:t>
            </a: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alla </a:t>
            </a:r>
            <a:r>
              <a:rPr lang="en-US" sz="1500" b="1" dirty="0" err="1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chiusura</a:t>
            </a: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della </a:t>
            </a:r>
            <a:r>
              <a:rPr lang="en-US" sz="1500" b="1" dirty="0" err="1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finestra</a:t>
            </a:r>
            <a:endParaRPr lang="en-US" sz="1500" b="1" dirty="0">
              <a:solidFill>
                <a:srgbClr val="196B24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Timestamp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dei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inizio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della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finestra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ottenuto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tramite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la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ProcessWindowFunction</a:t>
            </a:r>
            <a:endParaRPr lang="en-US" sz="1400" dirty="0"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Numero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voli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non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cancellati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e non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deviati</a:t>
            </a:r>
            <a:endParaRPr lang="en-US" sz="1400" dirty="0"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Numero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voli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con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ritardo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significativo</a:t>
            </a:r>
            <a:endParaRPr lang="en-US" sz="1400" dirty="0"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Ritardo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in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partenza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medio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Ritardo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in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partenza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massimo</a:t>
            </a:r>
            <a:endParaRPr lang="en-US" sz="1400" dirty="0"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Classifica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voli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con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ritardo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significativo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convertita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in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una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lista</a:t>
            </a:r>
            <a:r>
              <a:rPr lang="en-US" sz="140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ordinata</a:t>
            </a:r>
            <a:endParaRPr lang="en-US" sz="1400" dirty="0"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>
              <a:spcAft>
                <a:spcPts val="300"/>
              </a:spcAft>
            </a:pPr>
            <a:endParaRPr lang="en-US" sz="1400" dirty="0"/>
          </a:p>
          <a:p>
            <a:pPr>
              <a:spcAft>
                <a:spcPts val="300"/>
              </a:spcAft>
            </a:pP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ED4467E8-F228-F9E7-504D-BA912E059CDD}"/>
              </a:ext>
            </a:extLst>
          </p:cNvPr>
          <p:cNvSpPr/>
          <p:nvPr/>
        </p:nvSpPr>
        <p:spPr>
          <a:xfrm>
            <a:off x="384048" y="335062"/>
            <a:ext cx="11420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2 – </a:t>
            </a:r>
            <a:r>
              <a:rPr lang="en-US" sz="2400" b="1" dirty="0" err="1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Implementazione</a:t>
            </a:r>
            <a:r>
              <a:rPr lang="en-US" sz="24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windowAll</a:t>
            </a:r>
            <a:endParaRPr lang="en-US" sz="24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23764A3-16B9-21B8-30AB-49157E56E239}"/>
              </a:ext>
            </a:extLst>
          </p:cNvPr>
          <p:cNvSpPr/>
          <p:nvPr/>
        </p:nvSpPr>
        <p:spPr>
          <a:xfrm>
            <a:off x="384048" y="1232808"/>
            <a:ext cx="5367802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 err="1">
                <a:solidFill>
                  <a:srgbClr val="196B24"/>
                </a:solidFill>
                <a:latin typeface="Georgia" pitchFamily="34" charset="0"/>
              </a:rPr>
              <a:t>AggregateFunction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Aggrega i risultati di tutti gli aeroporti in un unico stream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Filtro preliminare: almeno 30 voli non cancellati né deviati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min-heap per calcolare la top-10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aeroporti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globale</a:t>
            </a:r>
            <a:endParaRPr lang="en-US" sz="1400" dirty="0">
              <a:solidFill>
                <a:srgbClr val="1A1A1A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min-heap è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convertito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ordinata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alla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chiusura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della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finestra</a:t>
            </a:r>
            <a:endParaRPr lang="en-US" sz="1400" dirty="0">
              <a:solidFill>
                <a:srgbClr val="1A1A1A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>
              <a:spcAft>
                <a:spcPts val="300"/>
              </a:spcAft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 topic Kafka </a:t>
            </a:r>
            <a:r>
              <a:rPr lang="en-US" sz="1500" b="1" dirty="0" err="1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distinti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query2_1h_results_topic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query2_6h_results_topic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query2_global_results_topic</a:t>
            </a:r>
            <a:endParaRPr lang="en-US" sz="14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77705808-2FA6-D796-FCB3-5E7C5AD2CC2F}"/>
              </a:ext>
            </a:extLst>
          </p:cNvPr>
          <p:cNvSpPr/>
          <p:nvPr/>
        </p:nvSpPr>
        <p:spPr>
          <a:xfrm>
            <a:off x="384048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 Accademico 2025/2026</a:t>
            </a:r>
            <a:endParaRPr lang="en-US" sz="95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815B9317-621C-B1D0-1058-BE1B86DABCF0}"/>
              </a:ext>
            </a:extLst>
          </p:cNvPr>
          <p:cNvSpPr/>
          <p:nvPr/>
        </p:nvSpPr>
        <p:spPr>
          <a:xfrm>
            <a:off x="4498848" y="64739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Andrea Ferretti</a:t>
            </a:r>
            <a:endParaRPr lang="en-US" sz="95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8F63C1B9-4161-FCD9-F5C5-8A517F567287}"/>
              </a:ext>
            </a:extLst>
          </p:cNvPr>
          <p:cNvSpPr/>
          <p:nvPr/>
        </p:nvSpPr>
        <p:spPr>
          <a:xfrm>
            <a:off x="7690104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709317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4CF4DDA4-966B-2D34-C6E4-798F903632CF}"/>
              </a:ext>
            </a:extLst>
          </p:cNvPr>
          <p:cNvSpPr/>
          <p:nvPr/>
        </p:nvSpPr>
        <p:spPr>
          <a:xfrm>
            <a:off x="384048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 Accademico 2025/2026</a:t>
            </a:r>
            <a:endParaRPr lang="en-US" sz="9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7E2FF22-BACA-9563-AF13-DF771EB2A59C}"/>
              </a:ext>
            </a:extLst>
          </p:cNvPr>
          <p:cNvSpPr/>
          <p:nvPr/>
        </p:nvSpPr>
        <p:spPr>
          <a:xfrm>
            <a:off x="4498848" y="64739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Andrea Ferretti</a:t>
            </a:r>
            <a:endParaRPr lang="en-US" sz="9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7AE1BFE-0D67-4D38-E5AC-AAF36D2C52D2}"/>
              </a:ext>
            </a:extLst>
          </p:cNvPr>
          <p:cNvSpPr/>
          <p:nvPr/>
        </p:nvSpPr>
        <p:spPr>
          <a:xfrm>
            <a:off x="7690104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950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4EABE134-DE2A-D92D-4643-830EBB4C84EA}"/>
              </a:ext>
            </a:extLst>
          </p:cNvPr>
          <p:cNvSpPr/>
          <p:nvPr/>
        </p:nvSpPr>
        <p:spPr>
          <a:xfrm>
            <a:off x="384048" y="384048"/>
            <a:ext cx="11420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6B24"/>
                </a:solidFill>
                <a:latin typeface="Georgia" pitchFamily="34" charset="0"/>
              </a:rPr>
              <a:t>Execution plan </a:t>
            </a:r>
            <a:r>
              <a:rPr lang="en-US" sz="2400" b="1" dirty="0" err="1">
                <a:solidFill>
                  <a:srgbClr val="196B24"/>
                </a:solidFill>
                <a:latin typeface="Georgia" pitchFamily="34" charset="0"/>
              </a:rPr>
              <a:t>fisico</a:t>
            </a:r>
            <a:endParaRPr lang="en-US" sz="24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9F752604-1C83-2679-A756-AA1571AB3E38}"/>
              </a:ext>
            </a:extLst>
          </p:cNvPr>
          <p:cNvSpPr/>
          <p:nvPr/>
        </p:nvSpPr>
        <p:spPr>
          <a:xfrm>
            <a:off x="384048" y="1223990"/>
            <a:ext cx="11420856" cy="256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400" dirty="0">
                <a:latin typeface="Georgia" panose="02040502050405020303" pitchFamily="18" charset="0"/>
              </a:rPr>
              <a:t>Query </a:t>
            </a:r>
            <a:r>
              <a:rPr lang="en-US" sz="1400" dirty="0" err="1">
                <a:latin typeface="Georgia" panose="02040502050405020303" pitchFamily="18" charset="0"/>
              </a:rPr>
              <a:t>implementate</a:t>
            </a:r>
            <a:r>
              <a:rPr lang="en-US" sz="1400" dirty="0">
                <a:latin typeface="Georgia" panose="02040502050405020303" pitchFamily="18" charset="0"/>
              </a:rPr>
              <a:t> come un </a:t>
            </a:r>
            <a:r>
              <a:rPr lang="en-US" sz="1400" dirty="0" err="1">
                <a:latin typeface="Georgia" panose="02040502050405020303" pitchFamily="18" charset="0"/>
              </a:rPr>
              <a:t>unico</a:t>
            </a:r>
            <a:r>
              <a:rPr lang="en-US" sz="1400" dirty="0">
                <a:latin typeface="Georgia" panose="02040502050405020303" pitchFamily="18" charset="0"/>
              </a:rPr>
              <a:t> job.</a:t>
            </a: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593A3141-1DD6-48D7-4DC1-62F32F3F0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380" y="1632928"/>
            <a:ext cx="5682134" cy="389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857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26354"/>
            <a:ext cx="11420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Valutazione Sperimentale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4048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 Accademico 2025/2026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498848" y="64739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Andrea Ferretti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690104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4048" y="885306"/>
            <a:ext cx="11420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95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Ambiente di test: istanza EC2  ·  4 vCPU  ·  16 GB RAM  ·  32 GB disco  ·  5 ripetizioni per ciascun grado di parallelismo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4048" y="1397370"/>
            <a:ext cx="1142085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 err="1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Metodologia</a:t>
            </a:r>
            <a:r>
              <a:rPr lang="en-US" sz="14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 </a:t>
            </a:r>
            <a:r>
              <a:rPr lang="en-US" sz="1400" b="1" dirty="0" err="1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misurazione</a:t>
            </a:r>
            <a:endParaRPr lang="en-US" sz="1400" b="1" dirty="0">
              <a:solidFill>
                <a:srgbClr val="196B24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Throughput: record/s in uscita dal Sink Writer (metrica Flink nativa)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Latenza: </a:t>
            </a:r>
            <a:r>
              <a:rPr lang="en-US" sz="1400" b="1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differenza</a:t>
            </a: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b="1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tra</a:t>
            </a: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clock della </a:t>
            </a:r>
            <a:r>
              <a:rPr lang="en-US" sz="1400" b="1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macchina</a:t>
            </a: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prima di </a:t>
            </a:r>
            <a:r>
              <a:rPr lang="en-US" sz="1400" b="1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inviare</a:t>
            </a: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b="1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b="1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risultati</a:t>
            </a: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al sink e ingestion time </a:t>
            </a:r>
            <a:r>
              <a:rPr lang="en-US" sz="1400" b="1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minimo</a:t>
            </a: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b="1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tra</a:t>
            </a: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b="1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gli</a:t>
            </a: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b="1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eventi</a:t>
            </a:r>
            <a:r>
              <a:rPr lang="en-US" sz="1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della </a:t>
            </a:r>
            <a:r>
              <a:rPr lang="en-US" sz="1400" b="1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finestra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9496" y="2715768"/>
            <a:ext cx="2560320" cy="457200"/>
          </a:xfrm>
          <a:prstGeom prst="rect">
            <a:avLst/>
          </a:prstGeom>
          <a:solidFill>
            <a:srgbClr val="0E284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85216" y="27614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Grado di parallelismo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99816" y="2715768"/>
            <a:ext cx="4389120" cy="457200"/>
          </a:xfrm>
          <a:prstGeom prst="rect">
            <a:avLst/>
          </a:prstGeom>
          <a:solidFill>
            <a:srgbClr val="0E284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3145536" y="27614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Throughput (</a:t>
            </a:r>
            <a:r>
              <a:rPr lang="en-US" sz="12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eventi</a:t>
            </a: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88936" y="2715768"/>
            <a:ext cx="4206240" cy="457200"/>
          </a:xfrm>
          <a:prstGeom prst="rect">
            <a:avLst/>
          </a:prstGeom>
          <a:solidFill>
            <a:srgbClr val="0E2841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534656" y="2761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Latenza (s)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9496" y="3172968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85216" y="32186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99816" y="3172968"/>
            <a:ext cx="4389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145536" y="32186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12.233 ± 30,91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88936" y="3172968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534656" y="32186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27,0 ± 0,03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39496" y="3630168"/>
            <a:ext cx="2560320" cy="457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585216" y="36758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099816" y="3630168"/>
            <a:ext cx="4389120" cy="457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3145536" y="36758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12.193 ± 40,27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88936" y="3630168"/>
            <a:ext cx="4206240" cy="457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7534656" y="36758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13,8 ± 0,04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9496" y="4087368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585216" y="41330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099816" y="4087368"/>
            <a:ext cx="4389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3145536" y="41330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12.176 ± 23,57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488936" y="4087368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7534656" y="41330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7,0 ± 0,01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84048" y="4713316"/>
            <a:ext cx="5367802" cy="1413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Throughput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Modesta riduzione all'aumentare del parallelismo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Imputabile all'overhead di comunicazione tra task paralleli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Distribuzione degli eventi tra i task aggiuntivi introduce latenza di scheduling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37101" y="4719966"/>
            <a:ext cx="5599727" cy="1413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Latenza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Riduzione approssimativamente nel rapporto 2:1 al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raddoppiare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del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parallelismo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Motivazione: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ciascuna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esecuzione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parallela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dello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stesso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processa meno eventi per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finestra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84048"/>
            <a:ext cx="11420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Serving – InfluxDB e Grafana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4048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 Accademico 2025/2026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498848" y="64739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Andrea Ferretti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690104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4048" y="1143000"/>
            <a:ext cx="5367802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CSV (Python)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Legge i risultati dai topic Kafka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Deserializza dal formato JSON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Formatta i risultati in stringhe e li salva su filesystem locale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</a:rPr>
              <a:t>Un file csv per la prima query e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</a:rPr>
              <a:t>tre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</a:rPr>
              <a:t> file csv per la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</a:rPr>
              <a:t>seconda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</a:rPr>
              <a:t> query, uno per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</a:rPr>
              <a:t>ciascuna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</a:rPr>
              <a:t>durata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</a:rPr>
              <a:t> della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</a:rPr>
              <a:t>finestra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</a:rPr>
              <a:t>temporale</a:t>
            </a:r>
            <a:endParaRPr lang="en-US" sz="1400" dirty="0"/>
          </a:p>
          <a:p>
            <a:pPr>
              <a:spcAft>
                <a:spcPts val="300"/>
              </a:spcAft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InfluxDB (Python)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Legge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risultati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topic Kafka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Deserializza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dal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formato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JSON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 la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libreria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client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InfluxDB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per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creare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oggetti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Point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Gestisce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tag, fields e measurement per ogni record</a:t>
            </a:r>
            <a:endParaRPr lang="en-US" sz="1400" dirty="0"/>
          </a:p>
          <a:p>
            <a:pPr>
              <a:spcAft>
                <a:spcPts val="300"/>
              </a:spcAft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</a:t>
            </a:r>
            <a:r>
              <a:rPr lang="en-US" sz="1400" b="1" dirty="0" err="1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InfluxDB</a:t>
            </a:r>
            <a:r>
              <a:rPr lang="en-US" sz="14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Query 1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Tag: compagnia aerea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Timestamp: istante di inizio finestra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Fields: ritardo medio, tasso cancellazione, tasso ritardi, contatori voli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37102" y="1143000"/>
            <a:ext cx="5367802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InfluxDB – Query 2 (aeroporti)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Measurement aeroporti: tag =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dimensione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finestra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aeroporto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Timestamp: istante di inizio finestra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Fields: numero voli, tasso ritardi, ritardo max, ritardo medio</a:t>
            </a:r>
            <a:endParaRPr lang="en-US" sz="1400" dirty="0"/>
          </a:p>
          <a:p>
            <a:pPr>
              <a:spcAft>
                <a:spcPts val="300"/>
              </a:spcAft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InfluxDB – Query 2 (voli classifica)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Measurement voli: 3 tag =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dimensione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finestra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aeroporto +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posizione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tag posizione evita che voli diversi si sovrascrivano nello stesso punto temporale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Fields: compagnia, destinazione, ritardo in partenza</a:t>
            </a:r>
            <a:endParaRPr lang="en-US" sz="1400" dirty="0"/>
          </a:p>
          <a:p>
            <a:pPr>
              <a:spcAft>
                <a:spcPts val="300"/>
              </a:spcAft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Grafana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Flux per estrazione dati: filter + pivot per struttura tabellare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Variabile dashboard: aeroporto selezionabile tramite menu a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tendina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84048"/>
            <a:ext cx="11420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Visualizzazione Grafana – Query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4048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 Accademico 2025/2026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498848" y="64739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Andrea Ferretti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690104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4048" y="1143000"/>
            <a:ext cx="11420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dashboard della prima query visualizza l'andamento delle metriche operative per le quattro compagnie aeree in tempo reale, con un tracciato distinto per ciascun vettore.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78308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Series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11312" y="178308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Gauge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" y="4663440"/>
            <a:ext cx="114208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 </a:t>
            </a:r>
            <a:r>
              <a:rPr lang="en-US" sz="1500" b="1" dirty="0" err="1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implementative</a:t>
            </a:r>
            <a:endParaRPr lang="en-US" sz="1500" b="1" dirty="0">
              <a:solidFill>
                <a:srgbClr val="196B24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aggregateWindow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richiesto da Grafana per gestire la quantità dei dati nella renderizzazione grafica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Finestra di aggregazione stabilita dinamicamente da Grafana con strategia MAX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dati sono estratti tramite semplici filter sul tag della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compagnia</a:t>
            </a: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aerea</a:t>
            </a:r>
            <a:endParaRPr lang="en-US" sz="1400" dirty="0"/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402EF9E0-45CB-6AD6-AF47-D854D6C2A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000" y="1795667"/>
            <a:ext cx="5144400" cy="2224236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4EB21047-D11B-6F44-5130-53D4844BC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801368"/>
            <a:ext cx="5144075" cy="221283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384048"/>
            <a:ext cx="11420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Visualizzazione Grafana – Query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4048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 Accademico 2025/2026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498848" y="64739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Andrea Ferretti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690104" y="6473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4048" y="1143000"/>
            <a:ext cx="11420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tab della seconda query è suddiviso in Row in base alla dimensione della finestra temporale (1h, 6h, globale). Ogni Row contiene la classifica degli aeroporti e quella dei voli per un aeroporto selezionabile.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737360"/>
            <a:ext cx="536780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 Aeroporti (tabella)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Top-10 aeroporti per numero di voli con ritardo significativo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Colonne: posizione, aeroporto, numero voli, ritardo max, ritardo medio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Estratta con filter + pivot per struttura tabellare in Flux</a:t>
            </a:r>
            <a:endParaRPr lang="en-US" sz="1400" dirty="0"/>
          </a:p>
          <a:p>
            <a:pPr>
              <a:spcAft>
                <a:spcPts val="300"/>
              </a:spcAft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96B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 Voli (tabella)</a:t>
            </a:r>
            <a:endParaRPr lang="en-US" sz="15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Top-20 voli con ritardo significativo per aeroporto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Aeroporto selezionabile tramite variabile dashboard Grafana (menu a tendina)</a:t>
            </a:r>
            <a:endParaRPr lang="en-US" sz="1400" dirty="0"/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Colonne: posizione, compagnia, destinazione, ritardo</a:t>
            </a:r>
            <a:endParaRPr lang="en-US" sz="140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A6F3C7D6-BCC0-18E2-6A2B-6059E12A0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6" y="1721745"/>
            <a:ext cx="2761644" cy="1440000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B019B476-B3E2-B363-E85A-96635EC13F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3270" y="3212751"/>
            <a:ext cx="2777402" cy="1440000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C999A2AF-C388-A17A-78A4-F6235591F6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746" y="4766220"/>
            <a:ext cx="2768957" cy="144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</TotalTime>
  <Words>1945</Words>
  <Application>Microsoft Office PowerPoint</Application>
  <PresentationFormat>Widescreen</PresentationFormat>
  <Paragraphs>338</Paragraphs>
  <Slides>16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Università degli Studi di Roma Tor Vergata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 in tempo reale di dati sui voli con Apache Flink</dc:title>
  <dc:subject>SABD - Progetto 2</dc:subject>
  <dc:creator>Andrea Ferretti</dc:creator>
  <cp:lastModifiedBy>andrea ferretti</cp:lastModifiedBy>
  <cp:revision>5</cp:revision>
  <dcterms:created xsi:type="dcterms:W3CDTF">2026-07-11T21:46:12Z</dcterms:created>
  <dcterms:modified xsi:type="dcterms:W3CDTF">2026-07-20T04:43:26Z</dcterms:modified>
</cp:coreProperties>
</file>